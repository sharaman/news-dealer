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712"/>
  </p:normalViewPr>
  <p:slideViewPr>
    <p:cSldViewPr snapToGrid="0" snapToObjects="1">
      <p:cViewPr varScale="1">
        <p:scale>
          <a:sx n="210" d="100"/>
          <a:sy n="210" d="100"/>
        </p:scale>
        <p:origin x="10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AI News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err="1">
                <a:solidFill>
                  <a:srgbClr val="48CAE4"/>
                </a:solidFill>
              </a:rPr>
              <a:t>Интеллектуальный</a:t>
            </a:r>
            <a:r>
              <a:rPr sz="2000" b="0" i="0" dirty="0">
                <a:solidFill>
                  <a:srgbClr val="48CAE4"/>
                </a:solidFill>
              </a:rPr>
              <a:t> </a:t>
            </a:r>
            <a:r>
              <a:rPr sz="2000" b="0" i="0" dirty="0" err="1">
                <a:solidFill>
                  <a:srgbClr val="48CAE4"/>
                </a:solidFill>
              </a:rPr>
              <a:t>агент</a:t>
            </a:r>
            <a:r>
              <a:rPr sz="2000" b="0" i="0" dirty="0">
                <a:solidFill>
                  <a:srgbClr val="48CAE4"/>
                </a:solidFill>
              </a:rPr>
              <a:t> </a:t>
            </a:r>
            <a:r>
              <a:rPr sz="2000" b="0" i="0" dirty="0" err="1">
                <a:solidFill>
                  <a:srgbClr val="48CAE4"/>
                </a:solidFill>
              </a:rPr>
              <a:t>для</a:t>
            </a:r>
            <a:r>
              <a:rPr sz="2000" b="0" i="0" dirty="0">
                <a:solidFill>
                  <a:srgbClr val="48CAE4"/>
                </a:solidFill>
              </a:rPr>
              <a:t> </a:t>
            </a:r>
            <a:r>
              <a:rPr sz="2000" b="0" i="0" dirty="0" err="1">
                <a:solidFill>
                  <a:srgbClr val="48CAE4"/>
                </a:solidFill>
              </a:rPr>
              <a:t>мониторинга</a:t>
            </a:r>
            <a:r>
              <a:rPr sz="2000" b="0" i="0" dirty="0">
                <a:solidFill>
                  <a:srgbClr val="48CAE4"/>
                </a:solidFill>
              </a:rPr>
              <a:t> </a:t>
            </a:r>
            <a:r>
              <a:rPr sz="2000" b="0" i="0" dirty="0" err="1">
                <a:solidFill>
                  <a:srgbClr val="48CAE4"/>
                </a:solidFill>
              </a:rPr>
              <a:t>новостей</a:t>
            </a:r>
            <a:r>
              <a:rPr sz="2000" b="0" i="0" dirty="0">
                <a:solidFill>
                  <a:srgbClr val="48CAE4"/>
                </a:solidFill>
              </a:rPr>
              <a:t> </a:t>
            </a:r>
            <a:r>
              <a:rPr sz="2000" b="0" i="0" dirty="0" err="1">
                <a:solidFill>
                  <a:srgbClr val="48CAE4"/>
                </a:solidFill>
              </a:rPr>
              <a:t>и</a:t>
            </a:r>
            <a:r>
              <a:rPr sz="2000" b="0" i="0" dirty="0">
                <a:solidFill>
                  <a:srgbClr val="48CAE4"/>
                </a:solidFill>
              </a:rPr>
              <a:t> </a:t>
            </a:r>
            <a:r>
              <a:rPr sz="2000" b="0" i="0" dirty="0" err="1">
                <a:solidFill>
                  <a:srgbClr val="48CAE4"/>
                </a:solidFill>
              </a:rPr>
              <a:t>генерации</a:t>
            </a:r>
            <a:r>
              <a:rPr sz="2000" b="0" i="0" dirty="0">
                <a:solidFill>
                  <a:srgbClr val="48CAE4"/>
                </a:solidFill>
              </a:rPr>
              <a:t> Telegram-</a:t>
            </a:r>
            <a:r>
              <a:rPr sz="2000" b="0" i="0" dirty="0" err="1">
                <a:solidFill>
                  <a:srgbClr val="48CAE4"/>
                </a:solidFill>
              </a:rPr>
              <a:t>постов</a:t>
            </a:r>
            <a:endParaRPr sz="2000" b="0" i="0" dirty="0">
              <a:solidFill>
                <a:srgbClr val="48CAE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 err="1">
                <a:solidFill>
                  <a:srgbClr val="CCD6E0"/>
                </a:solidFill>
              </a:rPr>
              <a:t>LangGraph</a:t>
            </a:r>
            <a:r>
              <a:rPr sz="1400" b="0" i="1" dirty="0">
                <a:solidFill>
                  <a:srgbClr val="CCD6E0"/>
                </a:solidFill>
              </a:rPr>
              <a:t>  ·  </a:t>
            </a:r>
            <a:r>
              <a:rPr sz="1400" b="0" i="1" dirty="0" err="1">
                <a:solidFill>
                  <a:srgbClr val="CCD6E0"/>
                </a:solidFill>
              </a:rPr>
              <a:t>LangChain</a:t>
            </a:r>
            <a:r>
              <a:rPr sz="1400" b="0" i="1" dirty="0">
                <a:solidFill>
                  <a:srgbClr val="CCD6E0"/>
                </a:solidFill>
              </a:rPr>
              <a:t>  ·  </a:t>
            </a:r>
            <a:r>
              <a:rPr sz="1400" b="0" i="1" dirty="0" err="1">
                <a:solidFill>
                  <a:srgbClr val="CCD6E0"/>
                </a:solidFill>
              </a:rPr>
              <a:t>ChromaDB</a:t>
            </a:r>
            <a:r>
              <a:rPr sz="1400" b="0" i="1" dirty="0">
                <a:solidFill>
                  <a:srgbClr val="CCD6E0"/>
                </a:solidFill>
              </a:rPr>
              <a:t>  ·  </a:t>
            </a:r>
            <a:r>
              <a:rPr sz="1400" b="0" i="1" dirty="0" err="1">
                <a:solidFill>
                  <a:srgbClr val="CCD6E0"/>
                </a:solidFill>
              </a:rPr>
              <a:t>FastMCP</a:t>
            </a:r>
            <a:r>
              <a:rPr sz="1400" b="0" i="1" dirty="0">
                <a:solidFill>
                  <a:srgbClr val="CCD6E0"/>
                </a:solidFill>
              </a:rPr>
              <a:t>  ·  GPT-4o  ·  </a:t>
            </a:r>
            <a:r>
              <a:rPr sz="1400" b="0" i="1" dirty="0" err="1">
                <a:solidFill>
                  <a:srgbClr val="CCD6E0"/>
                </a:solidFill>
              </a:rPr>
              <a:t>Langfuse</a:t>
            </a:r>
            <a:endParaRPr sz="1400" b="0" i="1" dirty="0">
              <a:solidFill>
                <a:srgbClr val="CCD6E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Цель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Зачем нужен AI News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530352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Проблема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3840480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00B4D8"/>
                </a:solidFill>
              </a:rPr>
              <a:t>▸ </a:t>
            </a:r>
            <a:r>
              <a:rPr sz="1400" dirty="0" err="1">
                <a:solidFill>
                  <a:srgbClr val="FFFFFF"/>
                </a:solidFill>
              </a:rPr>
              <a:t>Много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источников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lang="ru-RU" sz="1400" dirty="0">
                <a:solidFill>
                  <a:srgbClr val="FFFFFF"/>
                </a:solidFill>
              </a:rPr>
              <a:t>-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мало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времени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00B4D8"/>
                </a:solidFill>
              </a:rPr>
              <a:t>▸ </a:t>
            </a:r>
            <a:r>
              <a:rPr sz="1400" dirty="0" err="1">
                <a:solidFill>
                  <a:srgbClr val="FFFFFF"/>
                </a:solidFill>
              </a:rPr>
              <a:t>Сложно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отфильтровать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нужное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00B4D8"/>
                </a:solidFill>
              </a:rPr>
              <a:t>▸ </a:t>
            </a:r>
            <a:r>
              <a:rPr sz="1400" dirty="0" err="1">
                <a:solidFill>
                  <a:srgbClr val="FFFFFF"/>
                </a:solidFill>
              </a:rPr>
              <a:t>Ручная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подготовка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постов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занимает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часы</a:t>
            </a:r>
            <a:endParaRPr sz="140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46320" y="1188720"/>
            <a:ext cx="25400" cy="4572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7CC99"/>
                </a:solidFill>
              </a:rPr>
              <a:t>Решение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00200"/>
            <a:ext cx="6217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B4D8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Автоматический сбор из Medium и Telegram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B4D8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RAG-фильтрация по интересам пользователя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B4D8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Генерация готового поста через GPT-4o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B4D8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Публикация в Telegram-канал по расписанию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B4D8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Полный контроль безопасности (anti-injection, RBAC)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 err="1">
                <a:solidFill>
                  <a:srgbClr val="00B4D8"/>
                </a:solidFill>
              </a:rPr>
              <a:t>Результат</a:t>
            </a:r>
            <a:r>
              <a:rPr sz="1500" b="1" i="0" dirty="0">
                <a:solidFill>
                  <a:srgbClr val="00B4D8"/>
                </a:solidFill>
              </a:rPr>
              <a:t>: </a:t>
            </a:r>
            <a:r>
              <a:rPr sz="1500" b="1" i="0" dirty="0" err="1">
                <a:solidFill>
                  <a:srgbClr val="00B4D8"/>
                </a:solidFill>
              </a:rPr>
              <a:t>свежий</a:t>
            </a:r>
            <a:r>
              <a:rPr sz="1500" b="1" i="0" dirty="0">
                <a:solidFill>
                  <a:srgbClr val="00B4D8"/>
                </a:solidFill>
              </a:rPr>
              <a:t> </a:t>
            </a:r>
            <a:r>
              <a:rPr sz="1500" b="1" i="0" dirty="0" err="1">
                <a:solidFill>
                  <a:srgbClr val="00B4D8"/>
                </a:solidFill>
              </a:rPr>
              <a:t>дайджест</a:t>
            </a:r>
            <a:r>
              <a:rPr sz="1500" b="1" i="0" dirty="0">
                <a:solidFill>
                  <a:srgbClr val="00B4D8"/>
                </a:solidFill>
              </a:rPr>
              <a:t> </a:t>
            </a:r>
            <a:r>
              <a:rPr sz="1500" b="1" i="0" dirty="0" err="1">
                <a:solidFill>
                  <a:srgbClr val="00B4D8"/>
                </a:solidFill>
              </a:rPr>
              <a:t>с</a:t>
            </a:r>
            <a:r>
              <a:rPr sz="1500" b="1" i="0" dirty="0">
                <a:solidFill>
                  <a:srgbClr val="00B4D8"/>
                </a:solidFill>
              </a:rPr>
              <a:t> </a:t>
            </a:r>
            <a:r>
              <a:rPr sz="1500" b="1" i="0" dirty="0" err="1">
                <a:solidFill>
                  <a:srgbClr val="00B4D8"/>
                </a:solidFill>
              </a:rPr>
              <a:t>источниками</a:t>
            </a:r>
            <a:r>
              <a:rPr sz="1500" b="1" i="0" dirty="0">
                <a:solidFill>
                  <a:srgbClr val="00B4D8"/>
                </a:solidFill>
              </a:rPr>
              <a:t> </a:t>
            </a:r>
            <a:r>
              <a:rPr sz="1500" b="1" i="0" dirty="0" err="1">
                <a:solidFill>
                  <a:srgbClr val="00B4D8"/>
                </a:solidFill>
              </a:rPr>
              <a:t>каждое</a:t>
            </a:r>
            <a:r>
              <a:rPr sz="1500" b="1" i="0" dirty="0">
                <a:solidFill>
                  <a:srgbClr val="00B4D8"/>
                </a:solidFill>
              </a:rPr>
              <a:t> </a:t>
            </a:r>
            <a:r>
              <a:rPr sz="1500" b="1" i="0" dirty="0" err="1">
                <a:solidFill>
                  <a:srgbClr val="00B4D8"/>
                </a:solidFill>
              </a:rPr>
              <a:t>утро</a:t>
            </a:r>
            <a:r>
              <a:rPr sz="1500" b="1" i="0" dirty="0">
                <a:solidFill>
                  <a:srgbClr val="00B4D8"/>
                </a:solidFill>
              </a:rPr>
              <a:t> </a:t>
            </a:r>
            <a:r>
              <a:rPr lang="ru-RU" sz="1500" b="1" i="0" dirty="0">
                <a:solidFill>
                  <a:srgbClr val="00B4D8"/>
                </a:solidFill>
              </a:rPr>
              <a:t>-</a:t>
            </a:r>
            <a:r>
              <a:rPr sz="1500" b="1" i="0" dirty="0">
                <a:solidFill>
                  <a:srgbClr val="00B4D8"/>
                </a:solidFill>
              </a:rPr>
              <a:t> </a:t>
            </a:r>
            <a:r>
              <a:rPr sz="1500" b="1" i="0" dirty="0" err="1">
                <a:solidFill>
                  <a:srgbClr val="00B4D8"/>
                </a:solidFill>
              </a:rPr>
              <a:t>без</a:t>
            </a:r>
            <a:r>
              <a:rPr sz="1500" b="1" i="0" dirty="0">
                <a:solidFill>
                  <a:srgbClr val="00B4D8"/>
                </a:solidFill>
              </a:rPr>
              <a:t> </a:t>
            </a:r>
            <a:r>
              <a:rPr sz="1500" b="1" i="0" dirty="0" err="1">
                <a:solidFill>
                  <a:srgbClr val="00B4D8"/>
                </a:solidFill>
              </a:rPr>
              <a:t>ручного</a:t>
            </a:r>
            <a:r>
              <a:rPr sz="1500" b="1" i="0" dirty="0">
                <a:solidFill>
                  <a:srgbClr val="00B4D8"/>
                </a:solidFill>
              </a:rPr>
              <a:t> </a:t>
            </a:r>
            <a:r>
              <a:rPr sz="1500" b="1" i="0" dirty="0" err="1">
                <a:solidFill>
                  <a:srgbClr val="00B4D8"/>
                </a:solidFill>
              </a:rPr>
              <a:t>труда</a:t>
            </a:r>
            <a:endParaRPr sz="1500" b="1" i="0" dirty="0">
              <a:solidFill>
                <a:srgbClr val="00B4D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Архитектура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Control Plane / Data Plane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212080" cy="2103120"/>
          </a:xfrm>
          <a:prstGeom prst="rect">
            <a:avLst/>
          </a:prstGeom>
          <a:solidFill>
            <a:srgbClr val="0A283C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🛡 Control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RBAC / identity checks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Anti-injection validation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Source allowlist enforcement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Детерминированные allow/deny решения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5212080" cy="3200400"/>
          </a:xfrm>
          <a:prstGeom prst="rect">
            <a:avLst/>
          </a:prstGeom>
          <a:solidFill>
            <a:srgbClr val="0A283C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57CC99"/>
                </a:solidFill>
              </a:rPr>
              <a:t>⚡ Data Plane — </a:t>
            </a:r>
            <a:r>
              <a:rPr sz="1500" b="1" i="0" dirty="0" err="1">
                <a:solidFill>
                  <a:srgbClr val="57CC99"/>
                </a:solidFill>
              </a:rPr>
              <a:t>LangGraph</a:t>
            </a:r>
            <a:r>
              <a:rPr sz="1500" b="1" i="0" dirty="0">
                <a:solidFill>
                  <a:srgbClr val="57CC99"/>
                </a:solidFill>
              </a:rPr>
              <a:t>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7CC99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Нормализация user input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57CC99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Fetch из разрешённых источников (MCP/SSE)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57CC99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RAG retrieval (ChromaDB)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57CC99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Генерация поста (GPT-4o)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57CC99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Валидация вывода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3063240"/>
            <a:ext cx="128016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45640" y="301579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002060"/>
                </a:solidFill>
              </a:rPr>
              <a:t>allow / deny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51560"/>
            <a:ext cx="4114800" cy="475488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53328" y="11247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validate_request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527048"/>
            <a:ext cx="25400" cy="20116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0" y="1691640"/>
            <a:ext cx="4114800" cy="475488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53328" y="17647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check_permissions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167128"/>
            <a:ext cx="25400" cy="20116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0" y="2331720"/>
            <a:ext cx="4114800" cy="475488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24048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CAE4"/>
                </a:solidFill>
              </a:rPr>
              <a:t>fetch_sources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807208"/>
            <a:ext cx="25400" cy="20116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0" y="2971800"/>
            <a:ext cx="4114800" cy="475488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53328" y="30449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7CC99"/>
                </a:solidFill>
              </a:rPr>
              <a:t>rag_filter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3447288"/>
            <a:ext cx="25400" cy="20116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0" y="3611880"/>
            <a:ext cx="4114800" cy="475488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53328" y="36850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7CC99"/>
                </a:solidFill>
              </a:rPr>
              <a:t>generate_post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087368"/>
            <a:ext cx="25400" cy="20116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3600" y="4251960"/>
            <a:ext cx="4114800" cy="475488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53328" y="43251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</a:rPr>
              <a:t>validate_output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4727448"/>
            <a:ext cx="25400" cy="20116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0" y="4892040"/>
            <a:ext cx="4114800" cy="475488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53328" y="49651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publish_post / 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6168" y="8138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 err="1">
                <a:solidFill>
                  <a:srgbClr val="CCD6E0"/>
                </a:solidFill>
              </a:rPr>
              <a:t>Поток</a:t>
            </a:r>
            <a:r>
              <a:rPr sz="1100" b="0" i="1" dirty="0">
                <a:solidFill>
                  <a:srgbClr val="CCD6E0"/>
                </a:solidFill>
              </a:rPr>
              <a:t> </a:t>
            </a:r>
            <a:r>
              <a:rPr sz="1100" b="0" i="1" dirty="0" err="1">
                <a:solidFill>
                  <a:srgbClr val="CCD6E0"/>
                </a:solidFill>
              </a:rPr>
              <a:t>выполнения</a:t>
            </a:r>
            <a:r>
              <a:rPr sz="1100" b="0" i="1" dirty="0">
                <a:solidFill>
                  <a:srgbClr val="CCD6E0"/>
                </a:solidFill>
              </a:rPr>
              <a:t>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Нелинейный граф: 3 точки ветвления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LangGraph conditional edges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338560" cy="169164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Branch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Узел: check_permissions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115568"/>
            <a:ext cx="3566160" cy="1463040"/>
          </a:xfrm>
          <a:prstGeom prst="rect">
            <a:avLst/>
          </a:prstGeom>
          <a:solidFill>
            <a:srgbClr val="3A1010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117043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</a:rPr>
              <a:t>✗  Injection detected / роль запрещает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→ error_handler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115568"/>
            <a:ext cx="4114800" cy="1463040"/>
          </a:xfrm>
          <a:prstGeom prst="rect">
            <a:avLst/>
          </a:prstGeom>
          <a:solidFill>
            <a:srgbClr val="0A301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117043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CC99"/>
                </a:solidFill>
              </a:rPr>
              <a:t>✓  Запрос безопасен, роль разрешена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828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7CC99"/>
                </a:solidFill>
              </a:rPr>
              <a:t>→ fetch_sources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11338560" cy="169164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953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Branch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Узел: fetch_sources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2990088"/>
            <a:ext cx="3566160" cy="1463040"/>
          </a:xfrm>
          <a:prstGeom prst="rect">
            <a:avLst/>
          </a:prstGeom>
          <a:solidFill>
            <a:srgbClr val="3A1010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304495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</a:rPr>
              <a:t>✗  Не получено ни одной статьи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→ error_handler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2990088"/>
            <a:ext cx="4114800" cy="1463040"/>
          </a:xfrm>
          <a:prstGeom prst="rect">
            <a:avLst/>
          </a:prstGeom>
          <a:solidFill>
            <a:srgbClr val="0A301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304495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CC99"/>
                </a:solidFill>
              </a:rPr>
              <a:t>✓  Есть статьи из источников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703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7CC99"/>
                </a:solidFill>
              </a:rPr>
              <a:t>→ rag_filter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54880"/>
            <a:ext cx="11338560" cy="169164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828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Branch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Узел: validate_output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4864608"/>
            <a:ext cx="3566160" cy="1463040"/>
          </a:xfrm>
          <a:prstGeom prst="rect">
            <a:avLst/>
          </a:prstGeom>
          <a:solidFill>
            <a:srgbClr val="3A1010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0" y="491947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</a:rPr>
              <a:t>✗  Сгенерированный текст небезопасен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577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→ error_handler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4864608"/>
            <a:ext cx="4114800" cy="1463040"/>
          </a:xfrm>
          <a:prstGeom prst="rect">
            <a:avLst/>
          </a:prstGeom>
          <a:solidFill>
            <a:srgbClr val="0A301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0" y="491947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CC99"/>
                </a:solidFill>
              </a:rPr>
              <a:t>✓  Текст прошёл проверку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577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7CC99"/>
                </a:solidFill>
              </a:rPr>
              <a:t>→ publish_post → 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Безопасность и политики доступа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0" cy="539496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validator.py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Двухуровневая проверка входящего запроса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Prompt injection detection (EN + RU):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D166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ignore previous instructions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D166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forget everything / jailbreak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D166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&lt;system&gt;, [INST], ### Instruction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D166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игнорируй инструкции / забудь всё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Source manipulation guard (EN + RU):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6B6B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use reddit / add https://...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6B6B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instead of medium / вместо medium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6B6B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используй другой источник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6B6B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измени источники / добавь канал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05840"/>
            <a:ext cx="5669280" cy="539496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policy.py  —  RBAC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Три встроенные роли: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920240"/>
            <a:ext cx="5303520" cy="658368"/>
          </a:xfrm>
          <a:prstGeom prst="rect">
            <a:avLst/>
          </a:prstGeom>
          <a:solidFill>
            <a:srgbClr val="0D22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0"/>
                </a:solidFill>
              </a:rPr>
              <a:t>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9659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Medium ✅  Telegram ❌  Генерация ❌  Лимит: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670048"/>
            <a:ext cx="5303520" cy="658368"/>
          </a:xfrm>
          <a:prstGeom prst="rect">
            <a:avLst/>
          </a:prstGeom>
          <a:solidFill>
            <a:srgbClr val="0D22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7157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CAE4"/>
                </a:solidFill>
              </a:rPr>
              <a:t>reader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71576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Medium ✅  Telegram ✅  Генерация ❌  Лимит: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419856"/>
            <a:ext cx="5303520" cy="658368"/>
          </a:xfrm>
          <a:prstGeom prst="rect">
            <a:avLst/>
          </a:prstGeom>
          <a:solidFill>
            <a:srgbClr val="0D2235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4655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7CC99"/>
                </a:solidFill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465576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Medium ✅  Telegram ✅  Генерация ✅  Лимит: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343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</a:rPr>
              <a:t>Возвращает PolicyDecision: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709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8CAE4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allowed_medium_topics  (из .env, неизменяемо)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48CAE4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allowed_telegram_channels  (из .env, неизменяемо)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48CAE4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max_articles  (определяется ролью)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Источники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MCP SSE-сервер + Direct fetch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338560" cy="137160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FastMCP SSE Server  —  localhost:8000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Два read-only инструмента. Allowlist enforcement в tools.py — нельзя запросить неразрешённый источник.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5394960" cy="3749039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📰  Medium.com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RSS endpoint: medium.com/feed/tag/{topic}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Парсинг через feedparser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HTML-stripping из summary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Опциональная auth: Cookie: sid=...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Возврат: title, url, summary, source, topic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514600"/>
            <a:ext cx="5669280" cy="3749039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2606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8CAE4"/>
                </a:solidFill>
              </a:rPr>
              <a:t>✈️  Telegram </a:t>
            </a:r>
            <a:r>
              <a:rPr sz="1600" b="1" i="0" dirty="0" err="1">
                <a:solidFill>
                  <a:srgbClr val="48CAE4"/>
                </a:solidFill>
              </a:rPr>
              <a:t>каналы</a:t>
            </a:r>
            <a:endParaRPr sz="1600" b="1" i="0" dirty="0">
              <a:solidFill>
                <a:srgbClr val="48CAE4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0" y="306324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8CAE4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Веб-превью: t.me/s/{channel}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48CAE4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Парсинг через BeautifulSoup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48CAE4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Селектор: .tgme_widget_message_text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48CAE4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Только публичные каналы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48CAE4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Возврат: title, url, summary, source, channel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RAG — 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ChromaDB · sentence-transformers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651760" cy="475488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097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1. seed_interests()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5448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Наполнение коллекции дефолтными интересами
(идемпотентно, cosine space)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85795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005840"/>
            <a:ext cx="2651760" cy="475488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097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CAE4"/>
                </a:solidFill>
              </a:rPr>
              <a:t>2. retrieve_interests()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55448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Top-N интересов из ChromaDB
по косинусному сходству с запросом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85795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4224" y="1005840"/>
            <a:ext cx="2651760" cy="475488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097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7CC99"/>
                </a:solidFill>
              </a:rPr>
              <a:t>3. filter_articles()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55448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Keyword-фильтрация статей по найденным интересам
Fallback: вернуть все статьи если нет совпадений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285795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63456" y="1005840"/>
            <a:ext cx="2651760" cy="475488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73184" y="1097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4. generate_post()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155448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Отфильтрованные статьи + интересы
подаются в LLM как контекст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806440"/>
            <a:ext cx="11338560" cy="82296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8CAE4"/>
                </a:solidFill>
              </a:rPr>
              <a:t>ChromaDB PersistentClient  ·  коллекция user_interests  ·  DefaultEmbeddingFunction (sentence-transformers)  ·  distance: cosine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Генерация Telegram-поста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GPT-4o · Few-shot style prompting · Inline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669280" cy="548640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node_generate_post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Загрузка style_templates/*.txt (few-shot)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System prompt: стиль + правила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User prompt: интересы + статьи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GPT-4o → raw post text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_inject_inline_sources() — детерминированная вставка
  ссылок: [Label](url) после каждого пункта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Langfuse callback для трассировки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577840" cy="548640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7CC99"/>
                </a:solidFill>
              </a:rPr>
              <a:t>Формат итогового поста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1/ LangGraph 0.2 стабилизировал API для
   stateful агентов — теперь checkpointer
   поддерживает PostgreSQL из коробки.
   [Medium / artificial-intelligence](url)
2/ Claude 3.7 Sonnet показал SOTA на
   SWE-bench: 70.3% задач решено авто-
   матически. [Telegram @ai_newz](url)
3/ Mistral запустил Le Chat Pro с
   агентным режимом для браузера.
   [Medium / machine-learning](url)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Сессии · Публикация · Мониторинг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530352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💾  Сессии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LangGraph SqliteSaver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Ключ: thread_id (session_id)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Хранит полный AgentState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Персистентен между запусками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SQLite: ./sessions.db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005840"/>
            <a:ext cx="3657600" cy="530352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7CC99"/>
                </a:solidFill>
              </a:rPr>
              <a:t>📤  Публикация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5448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7CC99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Telegram Bot API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7CC99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parse_mode=HTML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7CC99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httpx async POST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7CC99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Флаг --publish в CLI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7CC99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Проверка env в Makefile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7CC99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TELEGRAM_BOT_TOKEN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7CC99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TELEGRAM_PUBLISH_CHANNEL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005840"/>
            <a:ext cx="3749039" cy="530352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📊  Мониторинг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55448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166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Langfuse v4 callbacks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166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Трассировка LLM-вызовов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166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Session ID / User ID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166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OTEL span attributes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166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structlog JSON logging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D166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Graceful degradation
(без ключей — без падений)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Безопасность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Многоуровневая защита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192024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13 regex-паттернов EN + RU
в validator.py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05840"/>
            <a:ext cx="3749039" cy="192024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097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Source Manipulation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6002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7 паттернов source guard
пользователь не меняет источники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005840"/>
            <a:ext cx="3749039" cy="192024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097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Несанкционированный
доступ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6002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RBAC policy.py
3 роли с разными правами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3749039" cy="192024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200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Изменение allowlist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03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ALLOWED_* только из .env
не принимается из запроса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108960"/>
            <a:ext cx="3749039" cy="192024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200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7CC99"/>
                </a:solidFill>
              </a:rPr>
              <a:t>Небезопасный вывод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703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node_validate_output
проверяет сгенерированный текст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108960"/>
            <a:ext cx="3749039" cy="192024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3200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7CC99"/>
                </a:solidFill>
              </a:rPr>
              <a:t>Слишком длинный запрос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703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MAX_MESSAGE_LENGTH=1000
обрезается на входе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Деплой на VPS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Ubuntu 22.04 · systemd · cron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03520" cy="539496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Компоненты на сервере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newsagent-mcp.service  — постоянный MCP SSE сервер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newsagent-run.service  — одноразовый запуск агента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newsagent-run.timer    — расписание (09:00 ежедневно)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Python 3.11 venv + все зависимости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.env с секретами (вне git)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Мин. требования: 1 vCPU · 1 GB RAM · 10 GB SSD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05840"/>
            <a:ext cx="5852160" cy="539496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Команды деплоя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55448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git clone &lt;repo&gt; ~/app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cd ~/app &amp;&amp; python3.11 -m venv .venv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source .venv/bin/activate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pip install -r requirements.txt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cp .env.example .env  # заполнить ключи</a:t>
            </a:r>
          </a:p>
          <a:p>
            <a:endParaRPr sz="1100">
              <a:solidFill>
                <a:srgbClr val="FFFFFF"/>
              </a:solidFill>
              <a:latin typeface="Courier New"/>
            </a:endParaRPr>
          </a:p>
          <a:p>
            <a:r>
              <a:rPr sz="1100">
                <a:solidFill>
                  <a:srgbClr val="48CAE4"/>
                </a:solidFill>
                <a:latin typeface="Courier New"/>
              </a:rPr>
              <a:t># Systemd сервисы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sudo systemctl enable --now newsagent-mcp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sudo systemctl enable --now newsagent-run.timer</a:t>
            </a:r>
          </a:p>
          <a:p>
            <a:endParaRPr sz="1100">
              <a:solidFill>
                <a:srgbClr val="FFFFFF"/>
              </a:solidFill>
              <a:latin typeface="Courier New"/>
            </a:endParaRPr>
          </a:p>
          <a:p>
            <a:r>
              <a:rPr sz="1100">
                <a:solidFill>
                  <a:srgbClr val="48CAE4"/>
                </a:solidFill>
                <a:latin typeface="Courier New"/>
              </a:rPr>
              <a:t># Проверка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systemctl list-timers newsagent-run.timer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journalctl -u newsagent-run.service -f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Быстрый старт и команды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make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338560" cy="5394960"/>
          </a:xfrm>
          <a:prstGeom prst="rect">
            <a:avLst/>
          </a:prstGeom>
          <a:solidFill>
            <a:srgbClr val="17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3108960" cy="438912"/>
          </a:xfrm>
          <a:prstGeom prst="rect">
            <a:avLst/>
          </a:prstGeom>
          <a:solidFill>
            <a:srgbClr val="05355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1887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make install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18872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Установить зависимости (pip install -r requirements.txt)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691640"/>
            <a:ext cx="3108960" cy="438912"/>
          </a:xfrm>
          <a:prstGeom prst="rect">
            <a:avLst/>
          </a:prstGeom>
          <a:solidFill>
            <a:srgbClr val="05355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737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make run-mcp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73736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Запустить MCP SSE сервер на localhost:8000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40280"/>
            <a:ext cx="3108960" cy="438912"/>
          </a:xfrm>
          <a:prstGeom prst="rect">
            <a:avLst/>
          </a:prstGeom>
          <a:solidFill>
            <a:srgbClr val="05355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2860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make run-agent-demo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8600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Демо-запрос агента без публикации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788920"/>
            <a:ext cx="3108960" cy="438912"/>
          </a:xfrm>
          <a:prstGeom prst="rect">
            <a:avLst/>
          </a:prstGeom>
          <a:solidFill>
            <a:srgbClr val="05355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28346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make run-agent MSG="..."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83464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Запуск агента с пользовательским запросом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337560"/>
            <a:ext cx="3108960" cy="438912"/>
          </a:xfrm>
          <a:prstGeom prst="rect">
            <a:avLst/>
          </a:prstGeom>
          <a:solidFill>
            <a:srgbClr val="05355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33832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make publish-demo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38328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Демо + публикация в Telegram-канал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886200"/>
            <a:ext cx="3108960" cy="438912"/>
          </a:xfrm>
          <a:prstGeom prst="rect">
            <a:avLst/>
          </a:prstGeom>
          <a:solidFill>
            <a:srgbClr val="05355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39319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make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93192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Запустить все тесты (39 тестов)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434840"/>
            <a:ext cx="3108960" cy="438912"/>
          </a:xfrm>
          <a:prstGeom prst="rect">
            <a:avLst/>
          </a:prstGeom>
          <a:solidFill>
            <a:srgbClr val="05355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4480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make lint / make 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48056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Проверка и форматирование кода (ruff)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983480"/>
            <a:ext cx="3108960" cy="438912"/>
          </a:xfrm>
          <a:prstGeom prst="rect">
            <a:avLst/>
          </a:prstGeom>
          <a:solidFill>
            <a:srgbClr val="05355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" y="5029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make typecheck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02920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Проверка типов (mypy)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3108960" cy="438912"/>
          </a:xfrm>
          <a:prstGeom prst="rect">
            <a:avLst/>
          </a:prstGeom>
          <a:solidFill>
            <a:srgbClr val="05355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" y="5577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make clean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57784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Очистить chroma_db, sessions.db, кэши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1226</Words>
  <Application>Microsoft Macintosh PowerPoint</Application>
  <PresentationFormat>Custom</PresentationFormat>
  <Paragraphs>204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Стурейко Игорь Олегович</cp:lastModifiedBy>
  <cp:revision>2</cp:revision>
  <dcterms:created xsi:type="dcterms:W3CDTF">2013-01-27T09:14:16Z</dcterms:created>
  <dcterms:modified xsi:type="dcterms:W3CDTF">2026-03-16T07:50:08Z</dcterms:modified>
  <cp:category/>
</cp:coreProperties>
</file>